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Minority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0">
                <a:solidFill>
                  <a:srgbClr val="CCD6DD"/>
                </a:solidFill>
                <a:latin typeface="Calibri"/>
              </a:defRPr>
            </a:pPr>
            <a:r>
              <a:t>Contrarian Traders, Prediction Markets, and</a:t>
            </a:r>
            <a:br/>
            <a:r>
              <a:t>the Return of Post-Earnings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Chloe Feng  |  Stanford GSB  |  February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6263640"/>
            <a:ext cx="9966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338 Polymarket earnings markets  |  11.1M on-chain trades  |  Matched to IBES analyst consensus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Research Question &amp;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64008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101498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How well calibrated is the Polymarket crowd on corporate earnings, does order flow carry information beyond price, and can crowd predictions generate tradeable post-earnings returns?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329184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3291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2743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065A82"/>
                </a:solidFill>
                <a:latin typeface="Georgia"/>
              </a:defRPr>
            </a:pPr>
            <a:r>
              <a:t>338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3192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C7293"/>
                </a:solidFill>
                <a:latin typeface="Calibri"/>
              </a:defRPr>
            </a:pPr>
            <a:r>
              <a:t>resolved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34840"/>
            <a:ext cx="27432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Polymarket earnings beat/miss</a:t>
            </a:r>
            <a:br/>
            <a:r>
              <a:t>markets spanning 255 tickers,</a:t>
            </a:r>
            <a:br/>
            <a:r>
              <a:t>matched to IBES analyst</a:t>
            </a:r>
            <a:br/>
            <a:r>
              <a:t>consensus forecasts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926080"/>
            <a:ext cx="329184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926080"/>
            <a:ext cx="3291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246120"/>
            <a:ext cx="2743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065A82"/>
                </a:solidFill>
                <a:latin typeface="Georgia"/>
              </a:defRPr>
            </a:pPr>
            <a:r>
              <a:t>11.1M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93192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C7293"/>
                </a:solidFill>
                <a:latin typeface="Calibri"/>
              </a:defRPr>
            </a:pPr>
            <a:r>
              <a:t>on-chain trades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434840"/>
            <a:ext cx="27432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Trade-level data from Dome API</a:t>
            </a:r>
            <a:br/>
            <a:r>
              <a:t>with buy/sell direction and</a:t>
            </a:r>
            <a:br/>
            <a:r>
              <a:t>persistent wallet addresses</a:t>
            </a:r>
            <a:br/>
            <a:r>
              <a:t>on the Polygon blockchain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926080"/>
            <a:ext cx="329184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926080"/>
            <a:ext cx="3291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3246120"/>
            <a:ext cx="2743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065A82"/>
                </a:solidFill>
                <a:latin typeface="Georgia"/>
              </a:defRPr>
            </a:pPr>
            <a:r>
              <a:t>20-day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93192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C7293"/>
                </a:solidFill>
                <a:latin typeface="Calibri"/>
              </a:defRPr>
            </a:pPr>
            <a:r>
              <a:t>consensus staleness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434840"/>
            <a:ext cx="27432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Median gap between last IBES</a:t>
            </a:r>
            <a:br/>
            <a:r>
              <a:t>snapshot and earnings date;</a:t>
            </a:r>
            <a:br/>
            <a:r>
              <a:t>prediction market trades</a:t>
            </a:r>
            <a:br/>
            <a:r>
              <a:t>continuously to announcement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Crowd Accuracy &amp; the Flow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212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Well-calibrated probabilities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49377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64008" cy="914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Brier score  </a:t>
            </a:r>
            <a:r>
              <a:rPr sz="2200" b="1">
                <a:solidFill>
                  <a:srgbClr val="065A82"/>
                </a:solidFill>
                <a:latin typeface="Calibri"/>
              </a:rPr>
              <a:t>0.124</a:t>
            </a:r>
            <a:r>
              <a:rPr sz="1400" b="0">
                <a:solidFill>
                  <a:srgbClr val="64748B"/>
                </a:solidFill>
                <a:latin typeface="Calibri"/>
              </a:rPr>
              <a:t>  vs. naive baseline  </a:t>
            </a:r>
            <a:r>
              <a:rPr sz="2200" b="1">
                <a:solidFill>
                  <a:srgbClr val="1E293B"/>
                </a:solidFill>
                <a:latin typeface="Calibri"/>
              </a:rPr>
              <a:t>0.155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Brier Skill Score = +0.20 (20% more accurate than base rate)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657600"/>
          <a:ext cx="49377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381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 Bin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Prob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Beat Rate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0-20%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20-40%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0.311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48.3%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40-60%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60-80%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0.722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83.3%</a:t>
                      </a:r>
                    </a:p>
                  </a:txBody>
                  <a:tcPr>
                    <a:solidFill>
                      <a:srgbClr val="F0F4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80-100%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Order flow predicts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029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Flow imbalance = net beat flow / total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560320"/>
            <a:ext cx="48463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60320"/>
            <a:ext cx="64008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65176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64748B"/>
                </a:solidFill>
                <a:latin typeface="Calibri"/>
              </a:defRPr>
            </a:pPr>
            <a:r>
              <a:t>Q1 (bearish)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Flow: -0.300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697480"/>
            <a:ext cx="1828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3000" b="1">
                <a:solidFill>
                  <a:srgbClr val="1E293B"/>
                </a:solidFill>
                <a:latin typeface="Georgia"/>
              </a:defRPr>
            </a:pPr>
            <a:r>
              <a:t>32.4%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218688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beat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749039"/>
            <a:ext cx="48463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749039"/>
            <a:ext cx="64008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840479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64748B"/>
                </a:solidFill>
                <a:latin typeface="Calibri"/>
              </a:defRPr>
            </a:pPr>
            <a:r>
              <a:t>Q3 (neutral)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206239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Flow: +0.390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886199"/>
            <a:ext cx="1828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3000" b="1">
                <a:solidFill>
                  <a:srgbClr val="1C7293"/>
                </a:solidFill>
                <a:latin typeface="Georgia"/>
              </a:defRPr>
            </a:pPr>
            <a:r>
              <a:t>98.5%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407407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beat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937760"/>
            <a:ext cx="48463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937760"/>
            <a:ext cx="64008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502920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64748B"/>
                </a:solidFill>
                <a:latin typeface="Calibri"/>
              </a:defRPr>
            </a:pPr>
            <a:r>
              <a:t>Q5 (bullish)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39496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Flow: +0.681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074920"/>
            <a:ext cx="1828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3000" b="1">
                <a:solidFill>
                  <a:srgbClr val="065A82"/>
                </a:solidFill>
                <a:latin typeface="Georgia"/>
              </a:defRPr>
            </a:pPr>
            <a:r>
              <a:t>98.5%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596128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beat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0350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Logistic regression: z = 8.57, p &lt; 10⁻¹⁷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Short-Side Alpha &amp; Post-Earnings 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Short-only strategy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Short when beat probability &lt; 0.30  (n = 23 events)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10972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500" b="1">
                <a:solidFill>
                  <a:srgbClr val="64748B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651760"/>
            <a:ext cx="1828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3200" b="1">
                <a:solidFill>
                  <a:srgbClr val="1C7293"/>
                </a:solidFill>
                <a:latin typeface="Georgia"/>
              </a:defRPr>
            </a:pPr>
            <a:r>
              <a:t>+1.23%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788920"/>
            <a:ext cx="1188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 = 0.67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033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10972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500" b="1">
                <a:solidFill>
                  <a:srgbClr val="64748B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794760"/>
            <a:ext cx="1828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3200" b="1">
                <a:solidFill>
                  <a:srgbClr val="1C7293"/>
                </a:solidFill>
                <a:latin typeface="Georgia"/>
              </a:defRPr>
            </a:pPr>
            <a:r>
              <a:t>+3.87%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931920"/>
            <a:ext cx="1188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 = 2.06 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463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10972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500" b="1">
                <a:solidFill>
                  <a:srgbClr val="64748B"/>
                </a:solidFill>
                <a:latin typeface="Calibri"/>
              </a:defRPr>
            </a:pPr>
            <a:r>
              <a:t>Day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937760"/>
            <a:ext cx="1828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3200" b="1">
                <a:solidFill>
                  <a:srgbClr val="065A82"/>
                </a:solidFill>
                <a:latin typeface="Georgia"/>
              </a:defRPr>
            </a:pPr>
            <a:r>
              <a:t>+5.90%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074920"/>
            <a:ext cx="1188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 = 2.88 **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760720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760720"/>
            <a:ext cx="64008" cy="6400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833872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Positive Fama-French 3-factor alpha at all thresholds;</a:t>
            </a:r>
            <a:br/>
            <a:r>
              <a:t>SMB and HML loadings statistically insignificant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Why does alpha concentrate on shorts?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011680"/>
            <a:ext cx="5029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011680"/>
            <a:ext cx="64008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12140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65A82"/>
                </a:solidFill>
                <a:latin typeface="Calibri"/>
              </a:defRPr>
            </a:pPr>
            <a:r>
              <a:t>Short-sale constraints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468880"/>
            <a:ext cx="44805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Borrowing costs, uptick rules, and fiduciary restrictions make it expensive to correct overvalued expectations on the miss side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429000"/>
            <a:ext cx="5029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429000"/>
            <a:ext cx="64008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53872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65A82"/>
                </a:solidFill>
                <a:latin typeface="Calibri"/>
              </a:defRPr>
            </a:pPr>
            <a:r>
              <a:t>Analyst walk-down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886200"/>
            <a:ext cx="44805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Analysts systematically set a beatable floor (intercept = +$1.55, t = 5.88), so beats are the modal outcome and produce muted returns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846320"/>
            <a:ext cx="5029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4846320"/>
            <a:ext cx="64008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95604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65A82"/>
                </a:solidFill>
                <a:latin typeface="Calibri"/>
              </a:defRPr>
            </a:pPr>
            <a:r>
              <a:t>Institutional herding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303520"/>
            <a:ext cx="44805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Analysts herd toward consensus; when the crowd flags a miss, no individual analyst has signaled it, amplifying the correction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Smart Money: Not Insiders, but Specialists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CCD6DD"/>
                </a:solidFill>
                <a:latin typeface="Calibri"/>
              </a:defRPr>
            </a:pPr>
            <a:r>
              <a:t>On-chain profiling of 22 high-accuracy wallets (94.1% pooled hit rate) reveals heterogeneous archetypes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074920" cy="2194560"/>
          </a:xfrm>
          <a:prstGeom prst="rect">
            <a:avLst/>
          </a:prstGeom>
          <a:solidFill>
            <a:srgbClr val="0E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07492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02C39A"/>
                </a:solidFill>
                <a:latin typeface="Calibri"/>
              </a:defRPr>
            </a:pPr>
            <a:r>
              <a:t>Domain-Specific Specialist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96% accuracy on 119 earnings markets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08960"/>
            <a:ext cx="4572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CD6DD"/>
                </a:solidFill>
                <a:latin typeface="Calibri"/>
              </a:defRPr>
            </a:pPr>
            <a:r>
              <a:t>Deep fundamental analysis in a narrow domain; edge does not transfer to other Polymarket verticals (cumulative PnL = -$78.5K overall)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011680"/>
            <a:ext cx="5074920" cy="2194560"/>
          </a:xfrm>
          <a:prstGeom prst="rect">
            <a:avLst/>
          </a:prstGeom>
          <a:solidFill>
            <a:srgbClr val="0E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11680"/>
            <a:ext cx="507492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02C39A"/>
                </a:solidFill>
                <a:latin typeface="Calibri"/>
              </a:defRPr>
            </a:pPr>
            <a:r>
              <a:t>Algorithmic Liquidity 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94% hit rate across 324 earnings slugs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572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CD6DD"/>
                </a:solidFill>
                <a:latin typeface="Calibri"/>
              </a:defRPr>
            </a:pPr>
            <a:r>
              <a:t>Programmatic market maker quoting both sides; near-zero net PnL from spread capture, not directional conviction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solidFill>
            <a:srgbClr val="0E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64008" cy="1645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006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02C39A"/>
                </a:solidFill>
                <a:latin typeface="Georgia"/>
              </a:defRPr>
            </a:pPr>
            <a:r>
              <a:t>Key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CD6DD"/>
                </a:solidFill>
                <a:latin typeface="Calibri"/>
              </a:defRPr>
            </a:pPr>
            <a:r>
              <a:t>Prediction market accuracy is best understood not as broad crowd wisdom, but as the emergent property of a heterogeneous ecosystem where specialized information and automated liquidity provision jointly produce well-calibrated prices. The crowd's signal is most valuable as a short-side veto: when it assigns low beat probability, shorting into earnings produces significant risk-adjusted returns over a 10-day horizon.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